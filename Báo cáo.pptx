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rial Unicode" charset="1" panose="020B0604020202020204"/>
      <p:regular r:id="rId15"/>
    </p:embeddedFont>
    <p:embeddedFont>
      <p:font typeface="TT Interphases Bold" charset="1" panose="02000803060000020004"/>
      <p:regular r:id="rId16"/>
    </p:embeddedFont>
    <p:embeddedFont>
      <p:font typeface="Arial Unicode Bold" charset="1" panose="020B0704020202020204"/>
      <p:regular r:id="rId17"/>
    </p:embeddedFont>
    <p:embeddedFont>
      <p:font typeface="Arimo Bold" charset="1" panose="020B0704020202020204"/>
      <p:regular r:id="rId18"/>
    </p:embeddedFont>
    <p:embeddedFont>
      <p:font typeface="Arimo" charset="1" panose="020B0604020202020204"/>
      <p:regular r:id="rId19"/>
    </p:embeddedFont>
    <p:embeddedFont>
      <p:font typeface="TT Interphases" charset="1" panose="020005030200000200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02F31">
                <a:alpha val="100000"/>
              </a:srgbClr>
            </a:gs>
            <a:gs pos="100000">
              <a:srgbClr val="00959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a:off x="756447" y="1563443"/>
            <a:ext cx="16775106" cy="0"/>
          </a:xfrm>
          <a:prstGeom prst="line">
            <a:avLst/>
          </a:prstGeom>
          <a:ln cap="flat" w="19050">
            <a:solidFill>
              <a:srgbClr val="FFFFFF"/>
            </a:solidFill>
            <a:prstDash val="solid"/>
            <a:headEnd type="none" len="sm" w="sm"/>
            <a:tailEnd type="none" len="sm" w="sm"/>
          </a:ln>
        </p:spPr>
      </p:sp>
      <p:sp>
        <p:nvSpPr>
          <p:cNvPr name="AutoShape 3" id="3"/>
          <p:cNvSpPr/>
          <p:nvPr/>
        </p:nvSpPr>
        <p:spPr>
          <a:xfrm>
            <a:off x="6343121" y="9236446"/>
            <a:ext cx="11188432"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028700" y="1884066"/>
            <a:ext cx="4461229" cy="7939896"/>
          </a:xfrm>
          <a:custGeom>
            <a:avLst/>
            <a:gdLst/>
            <a:ahLst/>
            <a:cxnLst/>
            <a:rect r="r" b="b" t="t" l="l"/>
            <a:pathLst>
              <a:path h="7939896" w="4461229">
                <a:moveTo>
                  <a:pt x="0" y="0"/>
                </a:moveTo>
                <a:lnTo>
                  <a:pt x="4461229" y="0"/>
                </a:lnTo>
                <a:lnTo>
                  <a:pt x="4461229" y="7939896"/>
                </a:lnTo>
                <a:lnTo>
                  <a:pt x="0" y="7939896"/>
                </a:lnTo>
                <a:lnTo>
                  <a:pt x="0" y="0"/>
                </a:lnTo>
                <a:close/>
              </a:path>
            </a:pathLst>
          </a:custGeom>
          <a:blipFill>
            <a:blip r:embed="rId2"/>
            <a:stretch>
              <a:fillRect l="-38876" t="0" r="-38876" b="0"/>
            </a:stretch>
          </a:blipFill>
        </p:spPr>
      </p:sp>
      <p:grpSp>
        <p:nvGrpSpPr>
          <p:cNvPr name="Group 5" id="5"/>
          <p:cNvGrpSpPr/>
          <p:nvPr/>
        </p:nvGrpSpPr>
        <p:grpSpPr>
          <a:xfrm rot="0">
            <a:off x="6667247" y="2301797"/>
            <a:ext cx="10864306" cy="5136264"/>
            <a:chOff x="0" y="0"/>
            <a:chExt cx="3158883" cy="1493410"/>
          </a:xfrm>
        </p:grpSpPr>
        <p:sp>
          <p:nvSpPr>
            <p:cNvPr name="Freeform 6" id="6"/>
            <p:cNvSpPr/>
            <p:nvPr/>
          </p:nvSpPr>
          <p:spPr>
            <a:xfrm flipH="false" flipV="false" rot="0">
              <a:off x="0" y="0"/>
              <a:ext cx="3158883" cy="1493410"/>
            </a:xfrm>
            <a:custGeom>
              <a:avLst/>
              <a:gdLst/>
              <a:ahLst/>
              <a:cxnLst/>
              <a:rect r="r" b="b" t="t" l="l"/>
              <a:pathLst>
                <a:path h="1493410" w="3158883">
                  <a:moveTo>
                    <a:pt x="0" y="0"/>
                  </a:moveTo>
                  <a:lnTo>
                    <a:pt x="3158883" y="0"/>
                  </a:lnTo>
                  <a:lnTo>
                    <a:pt x="3158883" y="1493410"/>
                  </a:lnTo>
                  <a:lnTo>
                    <a:pt x="0" y="1493410"/>
                  </a:lnTo>
                  <a:close/>
                </a:path>
              </a:pathLst>
            </a:custGeom>
            <a:ln w="38100" cap="sq">
              <a:solidFill>
                <a:srgbClr val="FFFFFF"/>
              </a:solidFill>
              <a:prstDash val="solid"/>
              <a:miter/>
            </a:ln>
          </p:spPr>
        </p:sp>
        <p:sp>
          <p:nvSpPr>
            <p:cNvPr name="TextBox 7" id="7"/>
            <p:cNvSpPr txBox="true"/>
            <p:nvPr/>
          </p:nvSpPr>
          <p:spPr>
            <a:xfrm>
              <a:off x="0" y="-38100"/>
              <a:ext cx="3158883" cy="1531510"/>
            </a:xfrm>
            <a:prstGeom prst="rect">
              <a:avLst/>
            </a:prstGeom>
          </p:spPr>
          <p:txBody>
            <a:bodyPr anchor="ctr" rtlCol="false" tIns="50800" lIns="50800" bIns="50800" rIns="50800"/>
            <a:lstStyle/>
            <a:p>
              <a:pPr algn="ctr">
                <a:lnSpc>
                  <a:spcPts val="2737"/>
                </a:lnSpc>
              </a:pPr>
            </a:p>
          </p:txBody>
        </p:sp>
      </p:grpSp>
      <p:sp>
        <p:nvSpPr>
          <p:cNvPr name="TextBox 8" id="8"/>
          <p:cNvSpPr txBox="true"/>
          <p:nvPr/>
        </p:nvSpPr>
        <p:spPr>
          <a:xfrm rot="0">
            <a:off x="6965665" y="3004345"/>
            <a:ext cx="10267470" cy="5036695"/>
          </a:xfrm>
          <a:prstGeom prst="rect">
            <a:avLst/>
          </a:prstGeom>
        </p:spPr>
        <p:txBody>
          <a:bodyPr anchor="t" rtlCol="false" tIns="0" lIns="0" bIns="0" rIns="0">
            <a:spAutoFit/>
          </a:bodyPr>
          <a:lstStyle/>
          <a:p>
            <a:pPr algn="l">
              <a:lnSpc>
                <a:spcPts val="9547"/>
              </a:lnSpc>
              <a:spcBef>
                <a:spcPct val="0"/>
              </a:spcBef>
            </a:pPr>
            <a:r>
              <a:rPr lang="en-US" sz="6281">
                <a:solidFill>
                  <a:srgbClr val="4AFFE9"/>
                </a:solidFill>
                <a:latin typeface="Arial Unicode"/>
                <a:ea typeface="Arial Unicode"/>
                <a:cs typeface="Arial Unicode"/>
                <a:sym typeface="Arial Unicode"/>
              </a:rPr>
              <a:t>CÁC</a:t>
            </a:r>
            <a:r>
              <a:rPr lang="en-US" sz="6281" strike="noStrike" u="none">
                <a:solidFill>
                  <a:srgbClr val="4AFFE9"/>
                </a:solidFill>
                <a:latin typeface="Arial Unicode"/>
                <a:ea typeface="Arial Unicode"/>
                <a:cs typeface="Arial Unicode"/>
                <a:sym typeface="Arial Unicode"/>
              </a:rPr>
              <a:t> CÔNG CỤ AI ĐANG THAY ĐỔI GIÁO DỤC NHƯ THẾ NÀO?</a:t>
            </a:r>
          </a:p>
          <a:p>
            <a:pPr algn="ctr" marL="0" indent="0" lvl="0">
              <a:lnSpc>
                <a:spcPts val="1197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02F31">
                <a:alpha val="100000"/>
              </a:srgbClr>
            </a:gs>
            <a:gs pos="100000">
              <a:srgbClr val="00959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a:off x="756447" y="1204809"/>
            <a:ext cx="16775106" cy="0"/>
          </a:xfrm>
          <a:prstGeom prst="line">
            <a:avLst/>
          </a:prstGeom>
          <a:ln cap="flat" w="19050">
            <a:solidFill>
              <a:srgbClr val="FFFFFF"/>
            </a:solidFill>
            <a:prstDash val="solid"/>
            <a:headEnd type="none" len="sm" w="sm"/>
            <a:tailEnd type="none" len="sm" w="sm"/>
          </a:ln>
        </p:spPr>
      </p:sp>
      <p:grpSp>
        <p:nvGrpSpPr>
          <p:cNvPr name="Group 3" id="3"/>
          <p:cNvGrpSpPr/>
          <p:nvPr/>
        </p:nvGrpSpPr>
        <p:grpSpPr>
          <a:xfrm rot="0">
            <a:off x="12644951" y="2385148"/>
            <a:ext cx="4242820" cy="4541759"/>
            <a:chOff x="0" y="0"/>
            <a:chExt cx="812800" cy="870068"/>
          </a:xfrm>
        </p:grpSpPr>
        <p:sp>
          <p:nvSpPr>
            <p:cNvPr name="Freeform 4" id="4"/>
            <p:cNvSpPr/>
            <p:nvPr/>
          </p:nvSpPr>
          <p:spPr>
            <a:xfrm flipH="false" flipV="false" rot="0">
              <a:off x="0" y="0"/>
              <a:ext cx="812800" cy="870068"/>
            </a:xfrm>
            <a:custGeom>
              <a:avLst/>
              <a:gdLst/>
              <a:ahLst/>
              <a:cxnLst/>
              <a:rect r="r" b="b" t="t" l="l"/>
              <a:pathLst>
                <a:path h="870068" w="812800">
                  <a:moveTo>
                    <a:pt x="0" y="0"/>
                  </a:moveTo>
                  <a:lnTo>
                    <a:pt x="812800" y="0"/>
                  </a:lnTo>
                  <a:lnTo>
                    <a:pt x="812800" y="870068"/>
                  </a:lnTo>
                  <a:lnTo>
                    <a:pt x="0" y="870068"/>
                  </a:lnTo>
                  <a:close/>
                </a:path>
              </a:pathLst>
            </a:custGeom>
            <a:blipFill>
              <a:blip r:embed="rId2"/>
              <a:stretch>
                <a:fillRect l="-3522" t="0" r="-3522" b="0"/>
              </a:stretch>
            </a:blipFill>
          </p:spPr>
        </p:sp>
      </p:grpSp>
      <p:grpSp>
        <p:nvGrpSpPr>
          <p:cNvPr name="Group 5" id="5"/>
          <p:cNvGrpSpPr>
            <a:grpSpLocks noChangeAspect="true"/>
          </p:cNvGrpSpPr>
          <p:nvPr/>
        </p:nvGrpSpPr>
        <p:grpSpPr>
          <a:xfrm rot="0">
            <a:off x="14076599" y="4656028"/>
            <a:ext cx="4211401" cy="8332981"/>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22234" t="0" r="-22234" b="0"/>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name="Freeform 15" id="15"/>
          <p:cNvSpPr/>
          <p:nvPr/>
        </p:nvSpPr>
        <p:spPr>
          <a:xfrm flipH="false" flipV="false" rot="-10800000">
            <a:off x="3241468" y="3503839"/>
            <a:ext cx="7315200" cy="2011680"/>
          </a:xfrm>
          <a:custGeom>
            <a:avLst/>
            <a:gdLst/>
            <a:ahLst/>
            <a:cxnLst/>
            <a:rect r="r" b="b" t="t" l="l"/>
            <a:pathLst>
              <a:path h="2011680" w="7315200">
                <a:moveTo>
                  <a:pt x="0" y="0"/>
                </a:moveTo>
                <a:lnTo>
                  <a:pt x="7315200" y="0"/>
                </a:lnTo>
                <a:lnTo>
                  <a:pt x="7315200" y="2011680"/>
                </a:lnTo>
                <a:lnTo>
                  <a:pt x="0" y="20116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3894414" y="1757050"/>
            <a:ext cx="8974066" cy="1746789"/>
          </a:xfrm>
          <a:prstGeom prst="rect">
            <a:avLst/>
          </a:prstGeom>
        </p:spPr>
        <p:txBody>
          <a:bodyPr anchor="t" rtlCol="false" tIns="0" lIns="0" bIns="0" rIns="0">
            <a:spAutoFit/>
          </a:bodyPr>
          <a:lstStyle/>
          <a:p>
            <a:pPr algn="l">
              <a:lnSpc>
                <a:spcPts val="13800"/>
              </a:lnSpc>
            </a:pPr>
            <a:r>
              <a:rPr lang="en-US" b="true" sz="11093">
                <a:solidFill>
                  <a:srgbClr val="FFFFFF"/>
                </a:solidFill>
                <a:latin typeface="TT Interphases Bold"/>
                <a:ea typeface="TT Interphases Bold"/>
                <a:cs typeface="TT Interphases Bold"/>
                <a:sym typeface="TT Interphases Bold"/>
              </a:rPr>
              <a:t>Nội dung : </a:t>
            </a:r>
          </a:p>
        </p:txBody>
      </p:sp>
      <p:sp>
        <p:nvSpPr>
          <p:cNvPr name="TextBox 17" id="17"/>
          <p:cNvSpPr txBox="true"/>
          <p:nvPr/>
        </p:nvSpPr>
        <p:spPr>
          <a:xfrm rot="0">
            <a:off x="1907846" y="5304380"/>
            <a:ext cx="2667243" cy="3518138"/>
          </a:xfrm>
          <a:prstGeom prst="rect">
            <a:avLst/>
          </a:prstGeom>
        </p:spPr>
        <p:txBody>
          <a:bodyPr anchor="t" rtlCol="false" tIns="0" lIns="0" bIns="0" rIns="0">
            <a:spAutoFit/>
          </a:bodyPr>
          <a:lstStyle/>
          <a:p>
            <a:pPr algn="l">
              <a:lnSpc>
                <a:spcPts val="5601"/>
              </a:lnSpc>
            </a:pPr>
            <a:r>
              <a:rPr lang="en-US" sz="4502" b="true">
                <a:solidFill>
                  <a:srgbClr val="FFFFFF"/>
                </a:solidFill>
                <a:latin typeface="Arial Unicode Bold"/>
                <a:ea typeface="Arial Unicode Bold"/>
                <a:cs typeface="Arial Unicode Bold"/>
                <a:sym typeface="Arial Unicode Bold"/>
              </a:rPr>
              <a:t>1.</a:t>
            </a:r>
            <a:r>
              <a:rPr lang="en-US" b="true" sz="4502">
                <a:solidFill>
                  <a:srgbClr val="FFFFFF"/>
                </a:solidFill>
                <a:latin typeface="Arial Unicode Bold"/>
                <a:ea typeface="Arial Unicode Bold"/>
                <a:cs typeface="Arial Unicode Bold"/>
                <a:sym typeface="Arial Unicode Bold"/>
              </a:rPr>
              <a:t>Những thay đổi cốt lõi do AI mang lại</a:t>
            </a:r>
          </a:p>
        </p:txBody>
      </p:sp>
      <p:sp>
        <p:nvSpPr>
          <p:cNvPr name="TextBox 18" id="18"/>
          <p:cNvSpPr txBox="true"/>
          <p:nvPr/>
        </p:nvSpPr>
        <p:spPr>
          <a:xfrm rot="0">
            <a:off x="5769661" y="5304380"/>
            <a:ext cx="2611787" cy="3518138"/>
          </a:xfrm>
          <a:prstGeom prst="rect">
            <a:avLst/>
          </a:prstGeom>
        </p:spPr>
        <p:txBody>
          <a:bodyPr anchor="t" rtlCol="false" tIns="0" lIns="0" bIns="0" rIns="0">
            <a:spAutoFit/>
          </a:bodyPr>
          <a:lstStyle/>
          <a:p>
            <a:pPr algn="l">
              <a:lnSpc>
                <a:spcPts val="5601"/>
              </a:lnSpc>
            </a:pPr>
            <a:r>
              <a:rPr lang="en-US" sz="4502" b="true">
                <a:solidFill>
                  <a:srgbClr val="FFFFFF"/>
                </a:solidFill>
                <a:latin typeface="Arial Unicode Bold"/>
                <a:ea typeface="Arial Unicode Bold"/>
                <a:cs typeface="Arial Unicode Bold"/>
                <a:sym typeface="Arial Unicode Bold"/>
              </a:rPr>
              <a:t>2.</a:t>
            </a:r>
            <a:r>
              <a:rPr lang="en-US" b="true" sz="4502">
                <a:solidFill>
                  <a:srgbClr val="FFFFFF"/>
                </a:solidFill>
                <a:latin typeface="Arial Unicode Bold"/>
                <a:ea typeface="Arial Unicode Bold"/>
                <a:cs typeface="Arial Unicode Bold"/>
                <a:sym typeface="Arial Unicode Bold"/>
              </a:rPr>
              <a:t>Thách thức &amp; Mặt trái cần giải quyết</a:t>
            </a:r>
          </a:p>
        </p:txBody>
      </p:sp>
      <p:sp>
        <p:nvSpPr>
          <p:cNvPr name="TextBox 19" id="19"/>
          <p:cNvSpPr txBox="true"/>
          <p:nvPr/>
        </p:nvSpPr>
        <p:spPr>
          <a:xfrm rot="0">
            <a:off x="9576019" y="5304380"/>
            <a:ext cx="2611787" cy="2813288"/>
          </a:xfrm>
          <a:prstGeom prst="rect">
            <a:avLst/>
          </a:prstGeom>
        </p:spPr>
        <p:txBody>
          <a:bodyPr anchor="t" rtlCol="false" tIns="0" lIns="0" bIns="0" rIns="0">
            <a:spAutoFit/>
          </a:bodyPr>
          <a:lstStyle/>
          <a:p>
            <a:pPr algn="l">
              <a:lnSpc>
                <a:spcPts val="5601"/>
              </a:lnSpc>
            </a:pPr>
            <a:r>
              <a:rPr lang="en-US" sz="4502" b="true">
                <a:solidFill>
                  <a:srgbClr val="FFFFFF"/>
                </a:solidFill>
                <a:latin typeface="Arial Unicode Bold"/>
                <a:ea typeface="Arial Unicode Bold"/>
                <a:cs typeface="Arial Unicode Bold"/>
                <a:sym typeface="Arial Unicode Bold"/>
              </a:rPr>
              <a:t>3.</a:t>
            </a:r>
            <a:r>
              <a:rPr lang="en-US" b="true" sz="4502">
                <a:solidFill>
                  <a:srgbClr val="FFFFFF"/>
                </a:solidFill>
                <a:latin typeface="Arial Unicode Bold"/>
                <a:ea typeface="Arial Unicode Bold"/>
                <a:cs typeface="Arial Unicode Bold"/>
                <a:sym typeface="Arial Unicode Bold"/>
              </a:rPr>
              <a:t>Giải pháp &amp; Hướng đi tương lai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02F31">
                <a:alpha val="100000"/>
              </a:srgbClr>
            </a:gs>
            <a:gs pos="100000">
              <a:srgbClr val="00959A">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4045180" y="1204809"/>
            <a:ext cx="4242820" cy="4541759"/>
            <a:chOff x="0" y="0"/>
            <a:chExt cx="812800" cy="870068"/>
          </a:xfrm>
        </p:grpSpPr>
        <p:sp>
          <p:nvSpPr>
            <p:cNvPr name="Freeform 3" id="3"/>
            <p:cNvSpPr/>
            <p:nvPr/>
          </p:nvSpPr>
          <p:spPr>
            <a:xfrm flipH="false" flipV="false" rot="0">
              <a:off x="0" y="0"/>
              <a:ext cx="812800" cy="870068"/>
            </a:xfrm>
            <a:custGeom>
              <a:avLst/>
              <a:gdLst/>
              <a:ahLst/>
              <a:cxnLst/>
              <a:rect r="r" b="b" t="t" l="l"/>
              <a:pathLst>
                <a:path h="870068" w="812800">
                  <a:moveTo>
                    <a:pt x="0" y="0"/>
                  </a:moveTo>
                  <a:lnTo>
                    <a:pt x="812800" y="0"/>
                  </a:lnTo>
                  <a:lnTo>
                    <a:pt x="812800" y="870068"/>
                  </a:lnTo>
                  <a:lnTo>
                    <a:pt x="0" y="870068"/>
                  </a:lnTo>
                  <a:close/>
                </a:path>
              </a:pathLst>
            </a:custGeom>
            <a:blipFill>
              <a:blip r:embed="rId2"/>
              <a:stretch>
                <a:fillRect l="0" t="0" r="-60568" b="0"/>
              </a:stretch>
            </a:blipFill>
          </p:spPr>
        </p:sp>
      </p:grpSp>
      <p:grpSp>
        <p:nvGrpSpPr>
          <p:cNvPr name="Group 4" id="4"/>
          <p:cNvGrpSpPr/>
          <p:nvPr/>
        </p:nvGrpSpPr>
        <p:grpSpPr>
          <a:xfrm rot="0">
            <a:off x="14895097" y="5110241"/>
            <a:ext cx="3169355" cy="316935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25000" t="0" r="-25000" b="0"/>
              </a:stretch>
            </a:blipFill>
          </p:spPr>
        </p:sp>
      </p:grpSp>
      <p:sp>
        <p:nvSpPr>
          <p:cNvPr name="TextBox 6" id="6"/>
          <p:cNvSpPr txBox="true"/>
          <p:nvPr/>
        </p:nvSpPr>
        <p:spPr>
          <a:xfrm rot="0">
            <a:off x="993610" y="1381880"/>
            <a:ext cx="10296859" cy="3434782"/>
          </a:xfrm>
          <a:prstGeom prst="rect">
            <a:avLst/>
          </a:prstGeom>
        </p:spPr>
        <p:txBody>
          <a:bodyPr anchor="t" rtlCol="false" tIns="0" lIns="0" bIns="0" rIns="0">
            <a:spAutoFit/>
          </a:bodyPr>
          <a:lstStyle/>
          <a:p>
            <a:pPr algn="l">
              <a:lnSpc>
                <a:spcPts val="8693"/>
              </a:lnSpc>
            </a:pPr>
            <a:r>
              <a:rPr lang="en-US" sz="6988" b="true">
                <a:solidFill>
                  <a:srgbClr val="FFFFFF"/>
                </a:solidFill>
                <a:latin typeface="TT Interphases Bold"/>
                <a:ea typeface="TT Interphases Bold"/>
                <a:cs typeface="TT Interphases Bold"/>
                <a:sym typeface="TT Interphases Bold"/>
              </a:rPr>
              <a:t>Những thay đổi cốt lõi do AI mang lại</a:t>
            </a:r>
          </a:p>
          <a:p>
            <a:pPr algn="l">
              <a:lnSpc>
                <a:spcPts val="9936"/>
              </a:lnSpc>
            </a:pPr>
          </a:p>
        </p:txBody>
      </p:sp>
      <p:sp>
        <p:nvSpPr>
          <p:cNvPr name="TextBox 7" id="7"/>
          <p:cNvSpPr txBox="true"/>
          <p:nvPr/>
        </p:nvSpPr>
        <p:spPr>
          <a:xfrm rot="0">
            <a:off x="993610" y="3856259"/>
            <a:ext cx="9446255" cy="1253982"/>
          </a:xfrm>
          <a:prstGeom prst="rect">
            <a:avLst/>
          </a:prstGeom>
        </p:spPr>
        <p:txBody>
          <a:bodyPr anchor="t" rtlCol="false" tIns="0" lIns="0" bIns="0" rIns="0">
            <a:spAutoFit/>
          </a:bodyPr>
          <a:lstStyle/>
          <a:p>
            <a:pPr algn="l">
              <a:lnSpc>
                <a:spcPts val="4979"/>
              </a:lnSpc>
            </a:pPr>
            <a:r>
              <a:rPr lang="en-US" sz="4002" b="true">
                <a:solidFill>
                  <a:srgbClr val="4AFFE9"/>
                </a:solidFill>
                <a:latin typeface="Arial Unicode Bold"/>
                <a:ea typeface="Arial Unicode Bold"/>
                <a:cs typeface="Arial Unicode Bold"/>
                <a:sym typeface="Arial Unicode Bold"/>
              </a:rPr>
              <a:t>1.Thay đổi trải nghiệm của người học </a:t>
            </a:r>
          </a:p>
          <a:p>
            <a:pPr algn="l">
              <a:lnSpc>
                <a:spcPts val="4979"/>
              </a:lnSpc>
            </a:pPr>
          </a:p>
        </p:txBody>
      </p:sp>
      <p:sp>
        <p:nvSpPr>
          <p:cNvPr name="TextBox 8" id="8"/>
          <p:cNvSpPr txBox="true"/>
          <p:nvPr/>
        </p:nvSpPr>
        <p:spPr>
          <a:xfrm rot="0">
            <a:off x="756447" y="4759513"/>
            <a:ext cx="13288733" cy="4815531"/>
          </a:xfrm>
          <a:prstGeom prst="rect">
            <a:avLst/>
          </a:prstGeom>
        </p:spPr>
        <p:txBody>
          <a:bodyPr anchor="t" rtlCol="false" tIns="0" lIns="0" bIns="0" rIns="0">
            <a:spAutoFit/>
          </a:bodyPr>
          <a:lstStyle/>
          <a:p>
            <a:pPr algn="l">
              <a:lnSpc>
                <a:spcPts val="4764"/>
              </a:lnSpc>
            </a:pPr>
            <a:r>
              <a:rPr lang="en-US" sz="3693" b="true">
                <a:solidFill>
                  <a:srgbClr val="FFFFFF"/>
                </a:solidFill>
                <a:latin typeface="Arimo Bold"/>
                <a:ea typeface="Arimo Bold"/>
                <a:cs typeface="Arimo Bold"/>
                <a:sym typeface="Arimo Bold"/>
              </a:rPr>
              <a:t>Trợ lý tự học và Gia sư AI 24/7</a:t>
            </a:r>
            <a:r>
              <a:rPr lang="en-US" sz="3693">
                <a:solidFill>
                  <a:srgbClr val="FFFFFF"/>
                </a:solidFill>
                <a:latin typeface="Arimo"/>
                <a:ea typeface="Arimo"/>
                <a:cs typeface="Arimo"/>
                <a:sym typeface="Arimo"/>
              </a:rPr>
              <a:t>:Giải đáp thắc mắc ngay lập tức, giải thích bài tập theo nhiều góc độ.</a:t>
            </a:r>
          </a:p>
          <a:p>
            <a:pPr algn="l">
              <a:lnSpc>
                <a:spcPts val="4764"/>
              </a:lnSpc>
            </a:pPr>
            <a:r>
              <a:rPr lang="en-US" sz="3693" b="true">
                <a:solidFill>
                  <a:srgbClr val="FFFFFF"/>
                </a:solidFill>
                <a:latin typeface="Arimo Bold"/>
                <a:ea typeface="Arimo Bold"/>
                <a:cs typeface="Arimo Bold"/>
                <a:sym typeface="Arimo Bold"/>
              </a:rPr>
              <a:t>Đa dạng hóa hình thức tiếp thu</a:t>
            </a:r>
            <a:r>
              <a:rPr lang="en-US" sz="3693">
                <a:solidFill>
                  <a:srgbClr val="FFFFFF"/>
                </a:solidFill>
                <a:latin typeface="Arimo"/>
                <a:ea typeface="Arimo"/>
                <a:cs typeface="Arimo"/>
                <a:sym typeface="Arimo"/>
              </a:rPr>
              <a:t> : Tóm tắt tài liệu, tạo bài tập trắc nghiệm , tạo sơ đồ tư duy</a:t>
            </a:r>
          </a:p>
          <a:p>
            <a:pPr algn="l">
              <a:lnSpc>
                <a:spcPts val="4764"/>
              </a:lnSpc>
            </a:pPr>
            <a:r>
              <a:rPr lang="en-US" sz="3693" b="true">
                <a:solidFill>
                  <a:srgbClr val="FFFFFF"/>
                </a:solidFill>
                <a:latin typeface="Arimo Bold"/>
                <a:ea typeface="Arimo Bold"/>
                <a:cs typeface="Arimo Bold"/>
                <a:sym typeface="Arimo Bold"/>
              </a:rPr>
              <a:t>Cá nhân hóa lộ trình học tập</a:t>
            </a:r>
            <a:r>
              <a:rPr lang="en-US" sz="3693">
                <a:solidFill>
                  <a:srgbClr val="FFFFFF"/>
                </a:solidFill>
                <a:latin typeface="Arimo"/>
                <a:ea typeface="Arimo"/>
                <a:cs typeface="Arimo"/>
                <a:sym typeface="Arimo"/>
              </a:rPr>
              <a:t> :AI phân tích điểm mạnh, điểm yếu để đề xuất bài tập và tốc độ học phù hợp.</a:t>
            </a:r>
          </a:p>
          <a:p>
            <a:pPr algn="l">
              <a:lnSpc>
                <a:spcPts val="4764"/>
              </a:lnSpc>
            </a:pPr>
            <a:r>
              <a:rPr lang="en-US" sz="3693" b="true">
                <a:solidFill>
                  <a:srgbClr val="FFFFFF"/>
                </a:solidFill>
                <a:latin typeface="Arimo Bold"/>
                <a:ea typeface="Arimo Bold"/>
                <a:cs typeface="Arimo Bold"/>
                <a:sym typeface="Arimo Bold"/>
              </a:rPr>
              <a:t>Ví dụ công cụ</a:t>
            </a:r>
            <a:r>
              <a:rPr lang="en-US" sz="3693">
                <a:solidFill>
                  <a:srgbClr val="FFFFFF"/>
                </a:solidFill>
                <a:latin typeface="Arimo"/>
                <a:ea typeface="Arimo"/>
                <a:cs typeface="Arimo"/>
                <a:sym typeface="Arimo"/>
              </a:rPr>
              <a:t> : Chat GPT , Gemini , Claude ,... </a:t>
            </a:r>
          </a:p>
          <a:p>
            <a:pPr algn="l">
              <a:lnSpc>
                <a:spcPts val="4764"/>
              </a:lnSpc>
            </a:pPr>
          </a:p>
        </p:txBody>
      </p:sp>
      <p:sp>
        <p:nvSpPr>
          <p:cNvPr name="AutoShape 9" id="9"/>
          <p:cNvSpPr/>
          <p:nvPr/>
        </p:nvSpPr>
        <p:spPr>
          <a:xfrm>
            <a:off x="756447" y="1204809"/>
            <a:ext cx="16775106"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02F31">
                <a:alpha val="100000"/>
              </a:srgbClr>
            </a:gs>
            <a:gs pos="100000">
              <a:srgbClr val="00959A">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2644951" y="2385148"/>
            <a:ext cx="4242820" cy="4541759"/>
            <a:chOff x="0" y="0"/>
            <a:chExt cx="812800" cy="870068"/>
          </a:xfrm>
        </p:grpSpPr>
        <p:sp>
          <p:nvSpPr>
            <p:cNvPr name="Freeform 3" id="3"/>
            <p:cNvSpPr/>
            <p:nvPr/>
          </p:nvSpPr>
          <p:spPr>
            <a:xfrm flipH="false" flipV="false" rot="0">
              <a:off x="0" y="0"/>
              <a:ext cx="812800" cy="870068"/>
            </a:xfrm>
            <a:custGeom>
              <a:avLst/>
              <a:gdLst/>
              <a:ahLst/>
              <a:cxnLst/>
              <a:rect r="r" b="b" t="t" l="l"/>
              <a:pathLst>
                <a:path h="870068" w="812800">
                  <a:moveTo>
                    <a:pt x="0" y="0"/>
                  </a:moveTo>
                  <a:lnTo>
                    <a:pt x="812800" y="0"/>
                  </a:lnTo>
                  <a:lnTo>
                    <a:pt x="812800" y="870068"/>
                  </a:lnTo>
                  <a:lnTo>
                    <a:pt x="0" y="870068"/>
                  </a:lnTo>
                  <a:close/>
                </a:path>
              </a:pathLst>
            </a:custGeom>
            <a:blipFill>
              <a:blip r:embed="rId2"/>
              <a:stretch>
                <a:fillRect l="0" t="0" r="-60568" b="0"/>
              </a:stretch>
            </a:blipFill>
          </p:spPr>
        </p:sp>
      </p:grpSp>
      <p:grpSp>
        <p:nvGrpSpPr>
          <p:cNvPr name="Group 4" id="4"/>
          <p:cNvGrpSpPr/>
          <p:nvPr/>
        </p:nvGrpSpPr>
        <p:grpSpPr>
          <a:xfrm rot="0">
            <a:off x="11725609" y="5608445"/>
            <a:ext cx="3169355" cy="316935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25000" t="0" r="-25000" b="0"/>
              </a:stretch>
            </a:blipFill>
          </p:spPr>
        </p:sp>
      </p:grpSp>
      <p:sp>
        <p:nvSpPr>
          <p:cNvPr name="TextBox 6" id="6"/>
          <p:cNvSpPr txBox="true"/>
          <p:nvPr/>
        </p:nvSpPr>
        <p:spPr>
          <a:xfrm rot="0">
            <a:off x="993610" y="1381880"/>
            <a:ext cx="10296859" cy="3434782"/>
          </a:xfrm>
          <a:prstGeom prst="rect">
            <a:avLst/>
          </a:prstGeom>
        </p:spPr>
        <p:txBody>
          <a:bodyPr anchor="t" rtlCol="false" tIns="0" lIns="0" bIns="0" rIns="0">
            <a:spAutoFit/>
          </a:bodyPr>
          <a:lstStyle/>
          <a:p>
            <a:pPr algn="l">
              <a:lnSpc>
                <a:spcPts val="8693"/>
              </a:lnSpc>
            </a:pPr>
            <a:r>
              <a:rPr lang="en-US" sz="6988" b="true">
                <a:solidFill>
                  <a:srgbClr val="FFFFFF"/>
                </a:solidFill>
                <a:latin typeface="TT Interphases Bold"/>
                <a:ea typeface="TT Interphases Bold"/>
                <a:cs typeface="TT Interphases Bold"/>
                <a:sym typeface="TT Interphases Bold"/>
              </a:rPr>
              <a:t>Những thay đổi cốt lõi do AI mang lại</a:t>
            </a:r>
          </a:p>
          <a:p>
            <a:pPr algn="l">
              <a:lnSpc>
                <a:spcPts val="9936"/>
              </a:lnSpc>
            </a:pPr>
          </a:p>
        </p:txBody>
      </p:sp>
      <p:sp>
        <p:nvSpPr>
          <p:cNvPr name="TextBox 7" id="7"/>
          <p:cNvSpPr txBox="true"/>
          <p:nvPr/>
        </p:nvSpPr>
        <p:spPr>
          <a:xfrm rot="0">
            <a:off x="776040" y="4026956"/>
            <a:ext cx="10731999" cy="1581490"/>
          </a:xfrm>
          <a:prstGeom prst="rect">
            <a:avLst/>
          </a:prstGeom>
        </p:spPr>
        <p:txBody>
          <a:bodyPr anchor="t" rtlCol="false" tIns="0" lIns="0" bIns="0" rIns="0">
            <a:spAutoFit/>
          </a:bodyPr>
          <a:lstStyle/>
          <a:p>
            <a:pPr algn="l">
              <a:lnSpc>
                <a:spcPts val="4979"/>
              </a:lnSpc>
            </a:pPr>
            <a:r>
              <a:rPr lang="en-US" sz="4002" b="true">
                <a:solidFill>
                  <a:srgbClr val="4AFFE9"/>
                </a:solidFill>
                <a:latin typeface="Arial Unicode Bold"/>
                <a:ea typeface="Arial Unicode Bold"/>
                <a:cs typeface="Arial Unicode Bold"/>
                <a:sym typeface="Arial Unicode Bold"/>
              </a:rPr>
              <a:t>2. Thay đổi phương pháp của Giáo viên </a:t>
            </a:r>
          </a:p>
          <a:p>
            <a:pPr algn="l">
              <a:lnSpc>
                <a:spcPts val="7591"/>
              </a:lnSpc>
            </a:pPr>
          </a:p>
        </p:txBody>
      </p:sp>
      <p:sp>
        <p:nvSpPr>
          <p:cNvPr name="TextBox 8" id="8"/>
          <p:cNvSpPr txBox="true"/>
          <p:nvPr/>
        </p:nvSpPr>
        <p:spPr>
          <a:xfrm rot="0">
            <a:off x="993610" y="5086350"/>
            <a:ext cx="10965260" cy="2415231"/>
          </a:xfrm>
          <a:prstGeom prst="rect">
            <a:avLst/>
          </a:prstGeom>
        </p:spPr>
        <p:txBody>
          <a:bodyPr anchor="t" rtlCol="false" tIns="0" lIns="0" bIns="0" rIns="0">
            <a:spAutoFit/>
          </a:bodyPr>
          <a:lstStyle/>
          <a:p>
            <a:pPr algn="l">
              <a:lnSpc>
                <a:spcPts val="4764"/>
              </a:lnSpc>
            </a:pPr>
            <a:r>
              <a:rPr lang="en-US" sz="3693" b="true">
                <a:solidFill>
                  <a:srgbClr val="FFFFFF"/>
                </a:solidFill>
                <a:latin typeface="Arimo Bold"/>
                <a:ea typeface="Arimo Bold"/>
                <a:cs typeface="Arimo Bold"/>
                <a:sym typeface="Arimo Bold"/>
              </a:rPr>
              <a:t>Tự động hóa công việc hành chính &amp; chuẩn bị bài giảng</a:t>
            </a:r>
            <a:r>
              <a:rPr lang="en-US" sz="3693">
                <a:solidFill>
                  <a:srgbClr val="FFFFFF"/>
                </a:solidFill>
                <a:latin typeface="Arimo"/>
                <a:ea typeface="Arimo"/>
                <a:cs typeface="Arimo"/>
                <a:sym typeface="Arimo"/>
              </a:rPr>
              <a:t> :Giảm tải thời gian tạo bài tập, tạo slide thuyết trình, chấm điểm trắc nghiệm/tự luận cơ bản.</a:t>
            </a:r>
          </a:p>
          <a:p>
            <a:pPr algn="l">
              <a:lnSpc>
                <a:spcPts val="4764"/>
              </a:lnSpc>
            </a:pPr>
          </a:p>
        </p:txBody>
      </p:sp>
      <p:sp>
        <p:nvSpPr>
          <p:cNvPr name="AutoShape 9" id="9"/>
          <p:cNvSpPr/>
          <p:nvPr/>
        </p:nvSpPr>
        <p:spPr>
          <a:xfrm>
            <a:off x="756447" y="1204809"/>
            <a:ext cx="16775106" cy="0"/>
          </a:xfrm>
          <a:prstGeom prst="line">
            <a:avLst/>
          </a:prstGeom>
          <a:ln cap="flat" w="19050">
            <a:solidFill>
              <a:srgbClr val="FFFFFF"/>
            </a:solidFill>
            <a:prstDash val="solid"/>
            <a:headEnd type="none" len="sm" w="sm"/>
            <a:tailEnd type="none" len="sm" w="sm"/>
          </a:ln>
        </p:spPr>
      </p:sp>
      <p:sp>
        <p:nvSpPr>
          <p:cNvPr name="TextBox 10" id="10"/>
          <p:cNvSpPr txBox="true"/>
          <p:nvPr/>
        </p:nvSpPr>
        <p:spPr>
          <a:xfrm rot="0">
            <a:off x="756447" y="7444431"/>
            <a:ext cx="10965260" cy="615006"/>
          </a:xfrm>
          <a:prstGeom prst="rect">
            <a:avLst/>
          </a:prstGeom>
        </p:spPr>
        <p:txBody>
          <a:bodyPr anchor="t" rtlCol="false" tIns="0" lIns="0" bIns="0" rIns="0">
            <a:spAutoFit/>
          </a:bodyPr>
          <a:lstStyle/>
          <a:p>
            <a:pPr algn="l">
              <a:lnSpc>
                <a:spcPts val="4764"/>
              </a:lnSpc>
            </a:pPr>
            <a:r>
              <a:rPr lang="en-US" b="true" sz="3693">
                <a:solidFill>
                  <a:srgbClr val="FFFFFF"/>
                </a:solidFill>
                <a:latin typeface="Arimo Bold"/>
                <a:ea typeface="Arimo Bold"/>
                <a:cs typeface="Arimo Bold"/>
                <a:sym typeface="Arimo Bold"/>
              </a:rPr>
              <a:t>Ví dụ công cụ : </a:t>
            </a:r>
            <a:r>
              <a:rPr lang="en-US" sz="3693">
                <a:solidFill>
                  <a:srgbClr val="FFFFFF"/>
                </a:solidFill>
                <a:latin typeface="Arimo"/>
                <a:ea typeface="Arimo"/>
                <a:cs typeface="Arimo"/>
                <a:sym typeface="Arimo"/>
              </a:rPr>
              <a:t>Canva AI , Gemini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02F31">
                <a:alpha val="100000"/>
              </a:srgbClr>
            </a:gs>
            <a:gs pos="100000">
              <a:srgbClr val="00959A">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2644951" y="2385148"/>
            <a:ext cx="4242820" cy="4541759"/>
            <a:chOff x="0" y="0"/>
            <a:chExt cx="812800" cy="870068"/>
          </a:xfrm>
        </p:grpSpPr>
        <p:sp>
          <p:nvSpPr>
            <p:cNvPr name="Freeform 3" id="3"/>
            <p:cNvSpPr/>
            <p:nvPr/>
          </p:nvSpPr>
          <p:spPr>
            <a:xfrm flipH="false" flipV="false" rot="0">
              <a:off x="0" y="0"/>
              <a:ext cx="812800" cy="870068"/>
            </a:xfrm>
            <a:custGeom>
              <a:avLst/>
              <a:gdLst/>
              <a:ahLst/>
              <a:cxnLst/>
              <a:rect r="r" b="b" t="t" l="l"/>
              <a:pathLst>
                <a:path h="870068" w="812800">
                  <a:moveTo>
                    <a:pt x="0" y="0"/>
                  </a:moveTo>
                  <a:lnTo>
                    <a:pt x="812800" y="0"/>
                  </a:lnTo>
                  <a:lnTo>
                    <a:pt x="812800" y="870068"/>
                  </a:lnTo>
                  <a:lnTo>
                    <a:pt x="0" y="870068"/>
                  </a:lnTo>
                  <a:close/>
                </a:path>
              </a:pathLst>
            </a:custGeom>
            <a:blipFill>
              <a:blip r:embed="rId2"/>
              <a:stretch>
                <a:fillRect l="0" t="0" r="-60568" b="0"/>
              </a:stretch>
            </a:blipFill>
          </p:spPr>
        </p:sp>
      </p:grpSp>
      <p:grpSp>
        <p:nvGrpSpPr>
          <p:cNvPr name="Group 4" id="4"/>
          <p:cNvGrpSpPr/>
          <p:nvPr/>
        </p:nvGrpSpPr>
        <p:grpSpPr>
          <a:xfrm rot="0">
            <a:off x="11725609" y="5608445"/>
            <a:ext cx="3169355" cy="316935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25000" t="0" r="-25000" b="0"/>
              </a:stretch>
            </a:blipFill>
          </p:spPr>
        </p:sp>
      </p:grpSp>
      <p:sp>
        <p:nvSpPr>
          <p:cNvPr name="TextBox 6" id="6"/>
          <p:cNvSpPr txBox="true"/>
          <p:nvPr/>
        </p:nvSpPr>
        <p:spPr>
          <a:xfrm rot="0">
            <a:off x="993610" y="1381880"/>
            <a:ext cx="10296859" cy="3434782"/>
          </a:xfrm>
          <a:prstGeom prst="rect">
            <a:avLst/>
          </a:prstGeom>
        </p:spPr>
        <p:txBody>
          <a:bodyPr anchor="t" rtlCol="false" tIns="0" lIns="0" bIns="0" rIns="0">
            <a:spAutoFit/>
          </a:bodyPr>
          <a:lstStyle/>
          <a:p>
            <a:pPr algn="l">
              <a:lnSpc>
                <a:spcPts val="8693"/>
              </a:lnSpc>
            </a:pPr>
            <a:r>
              <a:rPr lang="en-US" sz="6988" b="true">
                <a:solidFill>
                  <a:srgbClr val="FFFFFF"/>
                </a:solidFill>
                <a:latin typeface="TT Interphases Bold"/>
                <a:ea typeface="TT Interphases Bold"/>
                <a:cs typeface="TT Interphases Bold"/>
                <a:sym typeface="TT Interphases Bold"/>
              </a:rPr>
              <a:t>Những thay đổi cốt lõi do AI mang lại</a:t>
            </a:r>
          </a:p>
          <a:p>
            <a:pPr algn="l">
              <a:lnSpc>
                <a:spcPts val="9936"/>
              </a:lnSpc>
            </a:pPr>
          </a:p>
        </p:txBody>
      </p:sp>
      <p:sp>
        <p:nvSpPr>
          <p:cNvPr name="TextBox 7" id="7"/>
          <p:cNvSpPr txBox="true"/>
          <p:nvPr/>
        </p:nvSpPr>
        <p:spPr>
          <a:xfrm rot="0">
            <a:off x="993610" y="4192659"/>
            <a:ext cx="6534825" cy="1882632"/>
          </a:xfrm>
          <a:prstGeom prst="rect">
            <a:avLst/>
          </a:prstGeom>
        </p:spPr>
        <p:txBody>
          <a:bodyPr anchor="t" rtlCol="false" tIns="0" lIns="0" bIns="0" rIns="0">
            <a:spAutoFit/>
          </a:bodyPr>
          <a:lstStyle/>
          <a:p>
            <a:pPr algn="l">
              <a:lnSpc>
                <a:spcPts val="4979"/>
              </a:lnSpc>
            </a:pPr>
            <a:r>
              <a:rPr lang="en-US" sz="4002" b="true">
                <a:solidFill>
                  <a:srgbClr val="4AFFE9"/>
                </a:solidFill>
                <a:latin typeface="Arial Unicode Bold"/>
                <a:ea typeface="Arial Unicode Bold"/>
                <a:cs typeface="Arial Unicode Bold"/>
                <a:sym typeface="Arial Unicode Bold"/>
              </a:rPr>
              <a:t>3.Thay đổi trong Quản lý &amp; Môi trường Giáo dục </a:t>
            </a:r>
          </a:p>
          <a:p>
            <a:pPr algn="l">
              <a:lnSpc>
                <a:spcPts val="4979"/>
              </a:lnSpc>
            </a:pPr>
          </a:p>
        </p:txBody>
      </p:sp>
      <p:sp>
        <p:nvSpPr>
          <p:cNvPr name="TextBox 8" id="8"/>
          <p:cNvSpPr txBox="true"/>
          <p:nvPr/>
        </p:nvSpPr>
        <p:spPr>
          <a:xfrm rot="0">
            <a:off x="993610" y="5757867"/>
            <a:ext cx="10296859" cy="4215456"/>
          </a:xfrm>
          <a:prstGeom prst="rect">
            <a:avLst/>
          </a:prstGeom>
        </p:spPr>
        <p:txBody>
          <a:bodyPr anchor="t" rtlCol="false" tIns="0" lIns="0" bIns="0" rIns="0">
            <a:spAutoFit/>
          </a:bodyPr>
          <a:lstStyle/>
          <a:p>
            <a:pPr algn="l">
              <a:lnSpc>
                <a:spcPts val="4764"/>
              </a:lnSpc>
            </a:pPr>
            <a:r>
              <a:rPr lang="en-US" sz="3693" b="true">
                <a:solidFill>
                  <a:srgbClr val="FFFFFF"/>
                </a:solidFill>
                <a:latin typeface="Arimo Bold"/>
                <a:ea typeface="Arimo Bold"/>
                <a:cs typeface="Arimo Bold"/>
                <a:sym typeface="Arimo Bold"/>
              </a:rPr>
              <a:t>Tối ưu vận hành :</a:t>
            </a:r>
            <a:r>
              <a:rPr lang="en-US" sz="3693">
                <a:solidFill>
                  <a:srgbClr val="FFFFFF"/>
                </a:solidFill>
                <a:latin typeface="Arimo"/>
                <a:ea typeface="Arimo"/>
                <a:cs typeface="Arimo"/>
                <a:sym typeface="Arimo"/>
              </a:rPr>
              <a:t> Quản lý hồ sơ học sinh, dự đoán nguy cơ học sinh bỏ học hoặc giảm phong độ để hỗ trợ kịp thời.</a:t>
            </a:r>
          </a:p>
          <a:p>
            <a:pPr algn="l">
              <a:lnSpc>
                <a:spcPts val="4764"/>
              </a:lnSpc>
            </a:pPr>
            <a:r>
              <a:rPr lang="en-US" sz="3693" b="true">
                <a:solidFill>
                  <a:srgbClr val="FFFFFF"/>
                </a:solidFill>
                <a:latin typeface="Arimo Bold"/>
                <a:ea typeface="Arimo Bold"/>
                <a:cs typeface="Arimo Bold"/>
                <a:sym typeface="Arimo Bold"/>
              </a:rPr>
              <a:t>Thúc đẩy bình đẳng giáo dục:</a:t>
            </a:r>
            <a:r>
              <a:rPr lang="en-US" sz="3693">
                <a:solidFill>
                  <a:srgbClr val="FFFFFF"/>
                </a:solidFill>
                <a:latin typeface="Arimo"/>
                <a:ea typeface="Arimo"/>
                <a:cs typeface="Arimo"/>
                <a:sym typeface="Arimo"/>
              </a:rPr>
              <a:t>Học sinh ở khu vực xa xuôi có thể tiếp cận nguồn tri thức chất lượng cao qua các trợ lý AI chuẩn quốc tế</a:t>
            </a:r>
          </a:p>
          <a:p>
            <a:pPr algn="l">
              <a:lnSpc>
                <a:spcPts val="4764"/>
              </a:lnSpc>
            </a:pPr>
          </a:p>
        </p:txBody>
      </p:sp>
      <p:sp>
        <p:nvSpPr>
          <p:cNvPr name="AutoShape 9" id="9"/>
          <p:cNvSpPr/>
          <p:nvPr/>
        </p:nvSpPr>
        <p:spPr>
          <a:xfrm>
            <a:off x="756447" y="1204809"/>
            <a:ext cx="16775106"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02F31">
                <a:alpha val="100000"/>
              </a:srgbClr>
            </a:gs>
            <a:gs pos="100000">
              <a:srgbClr val="00959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a:off x="756447" y="1204809"/>
            <a:ext cx="16775106" cy="0"/>
          </a:xfrm>
          <a:prstGeom prst="line">
            <a:avLst/>
          </a:prstGeom>
          <a:ln cap="flat" w="19050">
            <a:solidFill>
              <a:srgbClr val="FFFFFF"/>
            </a:solidFill>
            <a:prstDash val="solid"/>
            <a:headEnd type="none" len="sm" w="sm"/>
            <a:tailEnd type="none" len="sm" w="sm"/>
          </a:ln>
        </p:spPr>
      </p:sp>
      <p:sp>
        <p:nvSpPr>
          <p:cNvPr name="TextBox 3" id="3"/>
          <p:cNvSpPr txBox="true"/>
          <p:nvPr/>
        </p:nvSpPr>
        <p:spPr>
          <a:xfrm rot="0">
            <a:off x="1028700" y="1991086"/>
            <a:ext cx="14622413" cy="818734"/>
          </a:xfrm>
          <a:prstGeom prst="rect">
            <a:avLst/>
          </a:prstGeom>
        </p:spPr>
        <p:txBody>
          <a:bodyPr anchor="t" rtlCol="false" tIns="0" lIns="0" bIns="0" rIns="0">
            <a:spAutoFit/>
          </a:bodyPr>
          <a:lstStyle/>
          <a:p>
            <a:pPr algn="l">
              <a:lnSpc>
                <a:spcPts val="6453"/>
              </a:lnSpc>
            </a:pPr>
            <a:r>
              <a:rPr lang="en-US" b="true" sz="5188">
                <a:solidFill>
                  <a:srgbClr val="4AFFE9"/>
                </a:solidFill>
                <a:latin typeface="TT Interphases Bold"/>
                <a:ea typeface="TT Interphases Bold"/>
                <a:cs typeface="TT Interphases Bold"/>
                <a:sym typeface="TT Interphases Bold"/>
              </a:rPr>
              <a:t>Thách thức &amp; Mặt trái cần giải quyết</a:t>
            </a:r>
          </a:p>
        </p:txBody>
      </p:sp>
      <p:sp>
        <p:nvSpPr>
          <p:cNvPr name="TextBox 4" id="4"/>
          <p:cNvSpPr txBox="true"/>
          <p:nvPr/>
        </p:nvSpPr>
        <p:spPr>
          <a:xfrm rot="0">
            <a:off x="7052720" y="4032847"/>
            <a:ext cx="10997065" cy="1392920"/>
          </a:xfrm>
          <a:prstGeom prst="rect">
            <a:avLst/>
          </a:prstGeom>
        </p:spPr>
        <p:txBody>
          <a:bodyPr anchor="t" rtlCol="false" tIns="0" lIns="0" bIns="0" rIns="0">
            <a:spAutoFit/>
          </a:bodyPr>
          <a:lstStyle/>
          <a:p>
            <a:pPr algn="l" marL="648319" indent="-324159" lvl="1">
              <a:lnSpc>
                <a:spcPts val="3735"/>
              </a:lnSpc>
              <a:buFont typeface="Arial"/>
              <a:buChar char="•"/>
            </a:pPr>
            <a:r>
              <a:rPr lang="en-US" b="true" sz="3002">
                <a:solidFill>
                  <a:srgbClr val="FFFFFF"/>
                </a:solidFill>
                <a:latin typeface="Arial Unicode Bold"/>
                <a:ea typeface="Arial Unicode Bold"/>
                <a:cs typeface="Arial Unicode Bold"/>
                <a:sym typeface="Arial Unicode Bold"/>
              </a:rPr>
              <a:t>Phụ thuộc quá mức &amp; giảm tư duy phản biện: </a:t>
            </a:r>
            <a:r>
              <a:rPr lang="en-US" sz="3002">
                <a:solidFill>
                  <a:srgbClr val="FFFFFF"/>
                </a:solidFill>
                <a:latin typeface="Arial Unicode"/>
                <a:ea typeface="Arial Unicode"/>
                <a:cs typeface="Arial Unicode"/>
                <a:sym typeface="Arial Unicode"/>
              </a:rPr>
              <a:t>Học sinh dễ ỷ lại vào đáp án AI có sẵn, lười suy luận độc lập. </a:t>
            </a:r>
          </a:p>
          <a:p>
            <a:pPr algn="l">
              <a:lnSpc>
                <a:spcPts val="3735"/>
              </a:lnSpc>
            </a:pPr>
          </a:p>
        </p:txBody>
      </p:sp>
      <p:grpSp>
        <p:nvGrpSpPr>
          <p:cNvPr name="Group 5" id="5"/>
          <p:cNvGrpSpPr>
            <a:grpSpLocks noChangeAspect="true"/>
          </p:cNvGrpSpPr>
          <p:nvPr/>
        </p:nvGrpSpPr>
        <p:grpSpPr>
          <a:xfrm rot="0">
            <a:off x="1450652" y="4312826"/>
            <a:ext cx="4211401" cy="8332981"/>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22234" t="0" r="-22234" b="0"/>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name="TextBox 15" id="15"/>
          <p:cNvSpPr txBox="true"/>
          <p:nvPr/>
        </p:nvSpPr>
        <p:spPr>
          <a:xfrm rot="0">
            <a:off x="7052720" y="5416242"/>
            <a:ext cx="10997065" cy="1859645"/>
          </a:xfrm>
          <a:prstGeom prst="rect">
            <a:avLst/>
          </a:prstGeom>
        </p:spPr>
        <p:txBody>
          <a:bodyPr anchor="t" rtlCol="false" tIns="0" lIns="0" bIns="0" rIns="0">
            <a:spAutoFit/>
          </a:bodyPr>
          <a:lstStyle/>
          <a:p>
            <a:pPr algn="l" marL="648319" indent="-324159" lvl="1">
              <a:lnSpc>
                <a:spcPts val="3735"/>
              </a:lnSpc>
              <a:buFont typeface="Arial"/>
              <a:buChar char="•"/>
            </a:pPr>
            <a:r>
              <a:rPr lang="en-US" b="true" sz="3002">
                <a:solidFill>
                  <a:srgbClr val="FFFFFF"/>
                </a:solidFill>
                <a:latin typeface="Arial Unicode Bold"/>
                <a:ea typeface="Arial Unicode Bold"/>
                <a:cs typeface="Arial Unicode Bold"/>
                <a:sym typeface="Arial Unicode Bold"/>
              </a:rPr>
              <a:t>Gi</a:t>
            </a:r>
            <a:r>
              <a:rPr lang="en-US" b="true" sz="3002">
                <a:solidFill>
                  <a:srgbClr val="FFFFFF"/>
                </a:solidFill>
                <a:latin typeface="Arial Unicode Bold"/>
                <a:ea typeface="Arial Unicode Bold"/>
                <a:cs typeface="Arial Unicode Bold"/>
                <a:sym typeface="Arial Unicode Bold"/>
              </a:rPr>
              <a:t>an lận học thuật &amp; Tính chính xác:</a:t>
            </a:r>
            <a:r>
              <a:rPr lang="en-US" sz="3002">
                <a:solidFill>
                  <a:srgbClr val="FFFFFF"/>
                </a:solidFill>
                <a:latin typeface="Arial Unicode"/>
                <a:ea typeface="Arial Unicode"/>
                <a:cs typeface="Arial Unicode"/>
                <a:sym typeface="Arial Unicode"/>
              </a:rPr>
              <a:t> Nguy cơ đạo văn, AI bị hiện tượng "ảo giác" (đưa thông tin sai lệch nhưng thuyết phục). </a:t>
            </a:r>
          </a:p>
          <a:p>
            <a:pPr algn="l">
              <a:lnSpc>
                <a:spcPts val="3735"/>
              </a:lnSpc>
            </a:pPr>
          </a:p>
        </p:txBody>
      </p:sp>
      <p:sp>
        <p:nvSpPr>
          <p:cNvPr name="TextBox 16" id="16"/>
          <p:cNvSpPr txBox="true"/>
          <p:nvPr/>
        </p:nvSpPr>
        <p:spPr>
          <a:xfrm rot="0">
            <a:off x="7052720" y="7154349"/>
            <a:ext cx="11235280" cy="1392920"/>
          </a:xfrm>
          <a:prstGeom prst="rect">
            <a:avLst/>
          </a:prstGeom>
        </p:spPr>
        <p:txBody>
          <a:bodyPr anchor="t" rtlCol="false" tIns="0" lIns="0" bIns="0" rIns="0">
            <a:spAutoFit/>
          </a:bodyPr>
          <a:lstStyle/>
          <a:p>
            <a:pPr algn="l" marL="648319" indent="-324159" lvl="1">
              <a:lnSpc>
                <a:spcPts val="3735"/>
              </a:lnSpc>
              <a:buFont typeface="Arial"/>
              <a:buChar char="•"/>
            </a:pPr>
            <a:r>
              <a:rPr lang="en-US" b="true" sz="3002">
                <a:solidFill>
                  <a:srgbClr val="FFFFFF"/>
                </a:solidFill>
                <a:latin typeface="Arial Unicode Bold"/>
                <a:ea typeface="Arial Unicode Bold"/>
                <a:cs typeface="Arial Unicode Bold"/>
                <a:sym typeface="Arial Unicode Bold"/>
              </a:rPr>
              <a:t>Khoảng cách công nghệ: </a:t>
            </a:r>
            <a:r>
              <a:rPr lang="en-US" sz="3002">
                <a:solidFill>
                  <a:srgbClr val="FFFFFF"/>
                </a:solidFill>
                <a:latin typeface="Arial Unicode"/>
                <a:ea typeface="Arial Unicode"/>
                <a:cs typeface="Arial Unicode"/>
                <a:sym typeface="Arial Unicode"/>
              </a:rPr>
              <a:t>Học </a:t>
            </a:r>
            <a:r>
              <a:rPr lang="en-US" sz="3002">
                <a:solidFill>
                  <a:srgbClr val="FFFFFF"/>
                </a:solidFill>
                <a:latin typeface="Arial Unicode"/>
                <a:ea typeface="Arial Unicode"/>
                <a:cs typeface="Arial Unicode"/>
                <a:sym typeface="Arial Unicode"/>
              </a:rPr>
              <a:t>sinh thiếu thiết bị/internet dễ bị bỏ lại phía sau.</a:t>
            </a:r>
          </a:p>
          <a:p>
            <a:pPr algn="l">
              <a:lnSpc>
                <a:spcPts val="3735"/>
              </a:lnSpc>
            </a:pPr>
          </a:p>
        </p:txBody>
      </p:sp>
      <p:sp>
        <p:nvSpPr>
          <p:cNvPr name="TextBox 17" id="17"/>
          <p:cNvSpPr txBox="true"/>
          <p:nvPr/>
        </p:nvSpPr>
        <p:spPr>
          <a:xfrm rot="0">
            <a:off x="7052720" y="8557078"/>
            <a:ext cx="10997065" cy="1392920"/>
          </a:xfrm>
          <a:prstGeom prst="rect">
            <a:avLst/>
          </a:prstGeom>
        </p:spPr>
        <p:txBody>
          <a:bodyPr anchor="t" rtlCol="false" tIns="0" lIns="0" bIns="0" rIns="0">
            <a:spAutoFit/>
          </a:bodyPr>
          <a:lstStyle/>
          <a:p>
            <a:pPr algn="l" marL="648319" indent="-324159" lvl="1">
              <a:lnSpc>
                <a:spcPts val="3735"/>
              </a:lnSpc>
              <a:buFont typeface="Arial"/>
              <a:buChar char="•"/>
            </a:pPr>
            <a:r>
              <a:rPr lang="en-US" b="true" sz="3002">
                <a:solidFill>
                  <a:srgbClr val="FFFFFF"/>
                </a:solidFill>
                <a:latin typeface="Arial Unicode Bold"/>
                <a:ea typeface="Arial Unicode Bold"/>
                <a:cs typeface="Arial Unicode Bold"/>
                <a:sym typeface="Arial Unicode Bold"/>
              </a:rPr>
              <a:t>Vấn đề bảo mật dữ l</a:t>
            </a:r>
            <a:r>
              <a:rPr lang="en-US" b="true" sz="3002">
                <a:solidFill>
                  <a:srgbClr val="FFFFFF"/>
                </a:solidFill>
                <a:latin typeface="Arial Unicode Bold"/>
                <a:ea typeface="Arial Unicode Bold"/>
                <a:cs typeface="Arial Unicode Bold"/>
                <a:sym typeface="Arial Unicode Bold"/>
              </a:rPr>
              <a:t>iệu &amp; Đạo đức AI: </a:t>
            </a:r>
            <a:r>
              <a:rPr lang="en-US" sz="3002">
                <a:solidFill>
                  <a:srgbClr val="FFFFFF"/>
                </a:solidFill>
                <a:latin typeface="Arial Unicode"/>
                <a:ea typeface="Arial Unicode"/>
                <a:cs typeface="Arial Unicode"/>
                <a:sym typeface="Arial Unicode"/>
              </a:rPr>
              <a:t>Rò rỉ thông tin cá nhân của người học.</a:t>
            </a:r>
          </a:p>
          <a:p>
            <a:pPr algn="l">
              <a:lnSpc>
                <a:spcPts val="373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02F31">
                <a:alpha val="100000"/>
              </a:srgbClr>
            </a:gs>
            <a:gs pos="100000">
              <a:srgbClr val="00959A">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2644951" y="2385148"/>
            <a:ext cx="4242820" cy="4541759"/>
            <a:chOff x="0" y="0"/>
            <a:chExt cx="812800" cy="870068"/>
          </a:xfrm>
        </p:grpSpPr>
        <p:sp>
          <p:nvSpPr>
            <p:cNvPr name="Freeform 3" id="3"/>
            <p:cNvSpPr/>
            <p:nvPr/>
          </p:nvSpPr>
          <p:spPr>
            <a:xfrm flipH="false" flipV="false" rot="0">
              <a:off x="0" y="0"/>
              <a:ext cx="812800" cy="870068"/>
            </a:xfrm>
            <a:custGeom>
              <a:avLst/>
              <a:gdLst/>
              <a:ahLst/>
              <a:cxnLst/>
              <a:rect r="r" b="b" t="t" l="l"/>
              <a:pathLst>
                <a:path h="870068" w="812800">
                  <a:moveTo>
                    <a:pt x="0" y="0"/>
                  </a:moveTo>
                  <a:lnTo>
                    <a:pt x="812800" y="0"/>
                  </a:lnTo>
                  <a:lnTo>
                    <a:pt x="812800" y="870068"/>
                  </a:lnTo>
                  <a:lnTo>
                    <a:pt x="0" y="870068"/>
                  </a:lnTo>
                  <a:close/>
                </a:path>
              </a:pathLst>
            </a:custGeom>
            <a:blipFill>
              <a:blip r:embed="rId2"/>
              <a:stretch>
                <a:fillRect l="-3522" t="0" r="-3522" b="0"/>
              </a:stretch>
            </a:blipFill>
          </p:spPr>
        </p:sp>
      </p:grpSp>
      <p:grpSp>
        <p:nvGrpSpPr>
          <p:cNvPr name="Group 4" id="4"/>
          <p:cNvGrpSpPr/>
          <p:nvPr/>
        </p:nvGrpSpPr>
        <p:grpSpPr>
          <a:xfrm rot="0">
            <a:off x="11725609" y="5608445"/>
            <a:ext cx="3169355" cy="316935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25046" t="0" r="-25046" b="0"/>
              </a:stretch>
            </a:blipFill>
          </p:spPr>
        </p:sp>
      </p:grpSp>
      <p:sp>
        <p:nvSpPr>
          <p:cNvPr name="TextBox 6" id="6"/>
          <p:cNvSpPr txBox="true"/>
          <p:nvPr/>
        </p:nvSpPr>
        <p:spPr>
          <a:xfrm rot="0">
            <a:off x="1028700" y="2356573"/>
            <a:ext cx="10296859" cy="1637884"/>
          </a:xfrm>
          <a:prstGeom prst="rect">
            <a:avLst/>
          </a:prstGeom>
        </p:spPr>
        <p:txBody>
          <a:bodyPr anchor="t" rtlCol="false" tIns="0" lIns="0" bIns="0" rIns="0">
            <a:spAutoFit/>
          </a:bodyPr>
          <a:lstStyle/>
          <a:p>
            <a:pPr algn="l">
              <a:lnSpc>
                <a:spcPts val="6453"/>
              </a:lnSpc>
            </a:pPr>
            <a:r>
              <a:rPr lang="en-US" sz="5188" b="true">
                <a:solidFill>
                  <a:srgbClr val="4AFFE9"/>
                </a:solidFill>
                <a:latin typeface="TT Interphases Bold"/>
                <a:ea typeface="TT Interphases Bold"/>
                <a:cs typeface="TT Interphases Bold"/>
                <a:sym typeface="TT Interphases Bold"/>
              </a:rPr>
              <a:t>Giải pháp &amp; Hướng đi tương lai</a:t>
            </a:r>
          </a:p>
          <a:p>
            <a:pPr algn="l">
              <a:lnSpc>
                <a:spcPts val="6453"/>
              </a:lnSpc>
            </a:pPr>
          </a:p>
        </p:txBody>
      </p:sp>
      <p:sp>
        <p:nvSpPr>
          <p:cNvPr name="TextBox 7" id="7"/>
          <p:cNvSpPr txBox="true"/>
          <p:nvPr/>
        </p:nvSpPr>
        <p:spPr>
          <a:xfrm rot="0">
            <a:off x="1028700" y="3984933"/>
            <a:ext cx="10296859" cy="1392920"/>
          </a:xfrm>
          <a:prstGeom prst="rect">
            <a:avLst/>
          </a:prstGeom>
        </p:spPr>
        <p:txBody>
          <a:bodyPr anchor="t" rtlCol="false" tIns="0" lIns="0" bIns="0" rIns="0">
            <a:spAutoFit/>
          </a:bodyPr>
          <a:lstStyle/>
          <a:p>
            <a:pPr algn="l" marL="648319" indent="-324159" lvl="1">
              <a:lnSpc>
                <a:spcPts val="3735"/>
              </a:lnSpc>
              <a:buFont typeface="Arial"/>
              <a:buChar char="•"/>
            </a:pPr>
            <a:r>
              <a:rPr lang="en-US" b="true" sz="3002">
                <a:solidFill>
                  <a:srgbClr val="FFFFFF"/>
                </a:solidFill>
                <a:latin typeface="Arial Unicode Bold"/>
                <a:ea typeface="Arial Unicode Bold"/>
                <a:cs typeface="Arial Unicode Bold"/>
                <a:sym typeface="Arial Unicode Bold"/>
              </a:rPr>
              <a:t>Đối với người học: </a:t>
            </a:r>
            <a:r>
              <a:rPr lang="en-US" sz="3002">
                <a:solidFill>
                  <a:srgbClr val="FFFFFF"/>
                </a:solidFill>
                <a:latin typeface="Arial Unicode"/>
                <a:ea typeface="Arial Unicode"/>
                <a:cs typeface="Arial Unicode"/>
                <a:sym typeface="Arial Unicode"/>
              </a:rPr>
              <a:t>Rèn luyện kỹ năng đặt câu hỏi, tư duy phản biện và kiểm chứng thông tin. </a:t>
            </a:r>
          </a:p>
          <a:p>
            <a:pPr algn="l">
              <a:lnSpc>
                <a:spcPts val="3735"/>
              </a:lnSpc>
            </a:pPr>
          </a:p>
        </p:txBody>
      </p:sp>
      <p:sp>
        <p:nvSpPr>
          <p:cNvPr name="AutoShape 8" id="8"/>
          <p:cNvSpPr/>
          <p:nvPr/>
        </p:nvSpPr>
        <p:spPr>
          <a:xfrm>
            <a:off x="756447" y="1204809"/>
            <a:ext cx="16775106" cy="0"/>
          </a:xfrm>
          <a:prstGeom prst="line">
            <a:avLst/>
          </a:prstGeom>
          <a:ln cap="flat" w="19050">
            <a:solidFill>
              <a:srgbClr val="FFFFFF"/>
            </a:solidFill>
            <a:prstDash val="solid"/>
            <a:headEnd type="none" len="sm" w="sm"/>
            <a:tailEnd type="none" len="sm" w="sm"/>
          </a:ln>
        </p:spPr>
      </p:sp>
      <p:sp>
        <p:nvSpPr>
          <p:cNvPr name="TextBox 9" id="9"/>
          <p:cNvSpPr txBox="true"/>
          <p:nvPr/>
        </p:nvSpPr>
        <p:spPr>
          <a:xfrm rot="0">
            <a:off x="1028700" y="5292235"/>
            <a:ext cx="10296859" cy="3259820"/>
          </a:xfrm>
          <a:prstGeom prst="rect">
            <a:avLst/>
          </a:prstGeom>
        </p:spPr>
        <p:txBody>
          <a:bodyPr anchor="t" rtlCol="false" tIns="0" lIns="0" bIns="0" rIns="0">
            <a:spAutoFit/>
          </a:bodyPr>
          <a:lstStyle/>
          <a:p>
            <a:pPr algn="l" marL="648319" indent="-324159" lvl="1">
              <a:lnSpc>
                <a:spcPts val="3735"/>
              </a:lnSpc>
              <a:buFont typeface="Arial"/>
              <a:buChar char="•"/>
            </a:pPr>
            <a:r>
              <a:rPr lang="en-US" b="true" sz="3002">
                <a:solidFill>
                  <a:srgbClr val="FFFFFF"/>
                </a:solidFill>
                <a:latin typeface="Arial Unicode Bold"/>
                <a:ea typeface="Arial Unicode Bold"/>
                <a:cs typeface="Arial Unicode Bold"/>
                <a:sym typeface="Arial Unicode Bold"/>
              </a:rPr>
              <a:t>Đối với nhà trường &amp; giáo viên: </a:t>
            </a:r>
          </a:p>
          <a:p>
            <a:pPr algn="l">
              <a:lnSpc>
                <a:spcPts val="3735"/>
              </a:lnSpc>
            </a:pPr>
            <a:r>
              <a:rPr lang="en-US" sz="3002" b="true">
                <a:solidFill>
                  <a:srgbClr val="FFFFFF"/>
                </a:solidFill>
                <a:latin typeface="Arial Unicode Bold"/>
                <a:ea typeface="Arial Unicode Bold"/>
                <a:cs typeface="Arial Unicode Bold"/>
                <a:sym typeface="Arial Unicode Bold"/>
              </a:rPr>
              <a:t>          </a:t>
            </a:r>
            <a:r>
              <a:rPr lang="en-US" sz="3002">
                <a:solidFill>
                  <a:srgbClr val="FFFFFF"/>
                </a:solidFill>
                <a:latin typeface="Arial Unicode"/>
                <a:ea typeface="Arial Unicode"/>
                <a:cs typeface="Arial Unicode"/>
                <a:sym typeface="Arial Unicode"/>
              </a:rPr>
              <a:t>Đưa nội dung "Năng lực số &amp; Đạo đức sử dụng AI" vào giảng dạy.</a:t>
            </a:r>
          </a:p>
          <a:p>
            <a:pPr algn="l">
              <a:lnSpc>
                <a:spcPts val="3735"/>
              </a:lnSpc>
            </a:pPr>
            <a:r>
              <a:rPr lang="en-US" sz="3002">
                <a:solidFill>
                  <a:srgbClr val="FFFFFF"/>
                </a:solidFill>
                <a:latin typeface="Arial Unicode"/>
                <a:ea typeface="Arial Unicode"/>
                <a:cs typeface="Arial Unicode"/>
                <a:sym typeface="Arial Unicode"/>
              </a:rPr>
              <a:t>         </a:t>
            </a:r>
            <a:r>
              <a:rPr lang="en-US" sz="3002">
                <a:solidFill>
                  <a:srgbClr val="FFFFFF"/>
                </a:solidFill>
                <a:latin typeface="Arial Unicode"/>
                <a:ea typeface="Arial Unicode"/>
                <a:cs typeface="Arial Unicode"/>
                <a:sym typeface="Arial Unicode"/>
              </a:rPr>
              <a:t>Tổ chức tập huấn về kỹ năng đặt câu hỏi và hướng dẫn tích hợp các công cụ AI chuyên biệt giúp giáo viên tối ưu hóa việc tạo đề thi và nâng cao hiệu quả giảng dạy.</a:t>
            </a:r>
          </a:p>
          <a:p>
            <a:pPr algn="l">
              <a:lnSpc>
                <a:spcPts val="3735"/>
              </a:lnSpc>
            </a:pPr>
          </a:p>
        </p:txBody>
      </p:sp>
      <p:sp>
        <p:nvSpPr>
          <p:cNvPr name="TextBox 10" id="10"/>
          <p:cNvSpPr txBox="true"/>
          <p:nvPr/>
        </p:nvSpPr>
        <p:spPr>
          <a:xfrm rot="0">
            <a:off x="1181100" y="8977825"/>
            <a:ext cx="16078200" cy="1392920"/>
          </a:xfrm>
          <a:prstGeom prst="rect">
            <a:avLst/>
          </a:prstGeom>
        </p:spPr>
        <p:txBody>
          <a:bodyPr anchor="t" rtlCol="false" tIns="0" lIns="0" bIns="0" rIns="0">
            <a:spAutoFit/>
          </a:bodyPr>
          <a:lstStyle/>
          <a:p>
            <a:pPr algn="l" marL="648319" indent="-324159" lvl="1">
              <a:lnSpc>
                <a:spcPts val="3735"/>
              </a:lnSpc>
              <a:buFont typeface="Arial"/>
              <a:buChar char="•"/>
            </a:pPr>
            <a:r>
              <a:rPr lang="en-US" b="true" sz="3002">
                <a:solidFill>
                  <a:srgbClr val="FFFFFF"/>
                </a:solidFill>
                <a:latin typeface="Arial Unicode Bold"/>
                <a:ea typeface="Arial Unicode Bold"/>
                <a:cs typeface="Arial Unicode Bold"/>
                <a:sym typeface="Arial Unicode Bold"/>
              </a:rPr>
              <a:t>Thông đ</a:t>
            </a:r>
            <a:r>
              <a:rPr lang="en-US" b="true" sz="3002">
                <a:solidFill>
                  <a:srgbClr val="FFFFFF"/>
                </a:solidFill>
                <a:latin typeface="Arial Unicode Bold"/>
                <a:ea typeface="Arial Unicode Bold"/>
                <a:cs typeface="Arial Unicode Bold"/>
                <a:sym typeface="Arial Unicode Bold"/>
              </a:rPr>
              <a:t>iệp kết luận: </a:t>
            </a:r>
            <a:r>
              <a:rPr lang="en-US" sz="3002">
                <a:solidFill>
                  <a:srgbClr val="FFFFFF"/>
                </a:solidFill>
                <a:latin typeface="Arial Unicode"/>
                <a:ea typeface="Arial Unicode"/>
                <a:cs typeface="Arial Unicode"/>
                <a:sym typeface="Arial Unicode"/>
              </a:rPr>
              <a:t>Chính trí tuệ cảm xúc, lòng thấu cảm và tư duy phản biện của con người mới là kim chỉ nam định hướng cho mọi công nghệ.</a:t>
            </a:r>
          </a:p>
          <a:p>
            <a:pPr algn="l">
              <a:lnSpc>
                <a:spcPts val="3735"/>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02F31">
                <a:alpha val="100000"/>
              </a:srgbClr>
            </a:gs>
            <a:gs pos="100000">
              <a:srgbClr val="00959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a:off x="756447" y="1204809"/>
            <a:ext cx="16775106" cy="0"/>
          </a:xfrm>
          <a:prstGeom prst="line">
            <a:avLst/>
          </a:prstGeom>
          <a:ln cap="flat" w="19050">
            <a:solidFill>
              <a:srgbClr val="FFFFFF"/>
            </a:solidFill>
            <a:prstDash val="solid"/>
            <a:headEnd type="none" len="sm" w="sm"/>
            <a:tailEnd type="none" len="sm" w="sm"/>
          </a:ln>
        </p:spPr>
      </p:sp>
      <p:sp>
        <p:nvSpPr>
          <p:cNvPr name="TextBox 3" id="3"/>
          <p:cNvSpPr txBox="true"/>
          <p:nvPr/>
        </p:nvSpPr>
        <p:spPr>
          <a:xfrm rot="0">
            <a:off x="1907846" y="1757050"/>
            <a:ext cx="8974066" cy="1746789"/>
          </a:xfrm>
          <a:prstGeom prst="rect">
            <a:avLst/>
          </a:prstGeom>
        </p:spPr>
        <p:txBody>
          <a:bodyPr anchor="t" rtlCol="false" tIns="0" lIns="0" bIns="0" rIns="0">
            <a:spAutoFit/>
          </a:bodyPr>
          <a:lstStyle/>
          <a:p>
            <a:pPr algn="l">
              <a:lnSpc>
                <a:spcPts val="13800"/>
              </a:lnSpc>
            </a:pPr>
            <a:r>
              <a:rPr lang="en-US" b="true" sz="11093">
                <a:solidFill>
                  <a:srgbClr val="FFFFFF"/>
                </a:solidFill>
                <a:latin typeface="TT Interphases Bold"/>
                <a:ea typeface="TT Interphases Bold"/>
                <a:cs typeface="TT Interphases Bold"/>
                <a:sym typeface="TT Interphases Bold"/>
              </a:rPr>
              <a:t>Thành viên :</a:t>
            </a:r>
          </a:p>
        </p:txBody>
      </p:sp>
      <p:sp>
        <p:nvSpPr>
          <p:cNvPr name="TextBox 4" id="4"/>
          <p:cNvSpPr txBox="true"/>
          <p:nvPr/>
        </p:nvSpPr>
        <p:spPr>
          <a:xfrm rot="0">
            <a:off x="1907846" y="4297134"/>
            <a:ext cx="9516036" cy="2813288"/>
          </a:xfrm>
          <a:prstGeom prst="rect">
            <a:avLst/>
          </a:prstGeom>
        </p:spPr>
        <p:txBody>
          <a:bodyPr anchor="t" rtlCol="false" tIns="0" lIns="0" bIns="0" rIns="0">
            <a:spAutoFit/>
          </a:bodyPr>
          <a:lstStyle/>
          <a:p>
            <a:pPr algn="l">
              <a:lnSpc>
                <a:spcPts val="5601"/>
              </a:lnSpc>
            </a:pPr>
            <a:r>
              <a:rPr lang="en-US" sz="4502" b="true">
                <a:solidFill>
                  <a:srgbClr val="4AFFE9"/>
                </a:solidFill>
                <a:latin typeface="Arial Unicode Bold"/>
                <a:ea typeface="Arial Unicode Bold"/>
                <a:cs typeface="Arial Unicode Bold"/>
                <a:sym typeface="Arial Unicode Bold"/>
              </a:rPr>
              <a:t>Lê Thị Diễm Hằng - B2605413 : </a:t>
            </a:r>
          </a:p>
          <a:p>
            <a:pPr algn="l">
              <a:lnSpc>
                <a:spcPts val="5601"/>
              </a:lnSpc>
            </a:pPr>
            <a:r>
              <a:rPr lang="en-US" sz="4502" b="true">
                <a:solidFill>
                  <a:srgbClr val="4AFFE9"/>
                </a:solidFill>
                <a:latin typeface="Arial Unicode Bold"/>
                <a:ea typeface="Arial Unicode Bold"/>
                <a:cs typeface="Arial Unicode Bold"/>
                <a:sym typeface="Arial Unicode Bold"/>
              </a:rPr>
              <a:t>   </a:t>
            </a:r>
            <a:r>
              <a:rPr lang="en-US" sz="4502" b="true">
                <a:solidFill>
                  <a:srgbClr val="FFFFFF"/>
                </a:solidFill>
                <a:latin typeface="Arial Unicode Bold"/>
                <a:ea typeface="Arial Unicode Bold"/>
                <a:cs typeface="Arial Unicode Bold"/>
                <a:sym typeface="Arial Unicode Bold"/>
              </a:rPr>
              <a:t>-File PowerPoint Báo Cáo </a:t>
            </a:r>
          </a:p>
          <a:p>
            <a:pPr algn="l">
              <a:lnSpc>
                <a:spcPts val="5601"/>
              </a:lnSpc>
            </a:pPr>
            <a:r>
              <a:rPr lang="en-US" sz="4502" b="true">
                <a:solidFill>
                  <a:srgbClr val="FFFFFF"/>
                </a:solidFill>
                <a:latin typeface="Arial Unicode Bold"/>
                <a:ea typeface="Arial Unicode Bold"/>
                <a:cs typeface="Arial Unicode Bold"/>
                <a:sym typeface="Arial Unicode Bold"/>
              </a:rPr>
              <a:t>   -Video </a:t>
            </a:r>
          </a:p>
          <a:p>
            <a:pPr algn="l">
              <a:lnSpc>
                <a:spcPts val="5601"/>
              </a:lnSpc>
            </a:pPr>
            <a:r>
              <a:rPr lang="en-US" sz="4502" b="true">
                <a:solidFill>
                  <a:srgbClr val="FFFFFF"/>
                </a:solidFill>
                <a:latin typeface="Arial Unicode Bold"/>
                <a:ea typeface="Arial Unicode Bold"/>
                <a:cs typeface="Arial Unicode Bold"/>
                <a:sym typeface="Arial Unicode Bold"/>
              </a:rPr>
              <a:t>   -Infographic</a:t>
            </a:r>
          </a:p>
        </p:txBody>
      </p:sp>
      <p:sp>
        <p:nvSpPr>
          <p:cNvPr name="TextBox 5" id="5"/>
          <p:cNvSpPr txBox="true"/>
          <p:nvPr/>
        </p:nvSpPr>
        <p:spPr>
          <a:xfrm rot="0">
            <a:off x="1907846" y="7091372"/>
            <a:ext cx="9516036" cy="2108438"/>
          </a:xfrm>
          <a:prstGeom prst="rect">
            <a:avLst/>
          </a:prstGeom>
        </p:spPr>
        <p:txBody>
          <a:bodyPr anchor="t" rtlCol="false" tIns="0" lIns="0" bIns="0" rIns="0">
            <a:spAutoFit/>
          </a:bodyPr>
          <a:lstStyle/>
          <a:p>
            <a:pPr algn="l">
              <a:lnSpc>
                <a:spcPts val="5601"/>
              </a:lnSpc>
            </a:pPr>
            <a:r>
              <a:rPr lang="en-US" sz="4502" b="true">
                <a:solidFill>
                  <a:srgbClr val="4AFFE9"/>
                </a:solidFill>
                <a:latin typeface="Arial Unicode Bold"/>
                <a:ea typeface="Arial Unicode Bold"/>
                <a:cs typeface="Arial Unicode Bold"/>
                <a:sym typeface="Arial Unicode Bold"/>
              </a:rPr>
              <a:t>Nguyễn Thị Kim Ngọc - B2605444 : </a:t>
            </a:r>
          </a:p>
          <a:p>
            <a:pPr algn="l">
              <a:lnSpc>
                <a:spcPts val="5601"/>
              </a:lnSpc>
            </a:pPr>
            <a:r>
              <a:rPr lang="en-US" sz="4502" b="true">
                <a:solidFill>
                  <a:srgbClr val="FFFFFF"/>
                </a:solidFill>
                <a:latin typeface="Arial Unicode Bold"/>
                <a:ea typeface="Arial Unicode Bold"/>
                <a:cs typeface="Arial Unicode Bold"/>
                <a:sym typeface="Arial Unicode Bold"/>
              </a:rPr>
              <a:t>   - Lập dàn ý </a:t>
            </a:r>
          </a:p>
          <a:p>
            <a:pPr algn="l">
              <a:lnSpc>
                <a:spcPts val="5601"/>
              </a:lnSpc>
            </a:pPr>
            <a:r>
              <a:rPr lang="en-US" sz="4502" b="true">
                <a:solidFill>
                  <a:srgbClr val="FFFFFF"/>
                </a:solidFill>
                <a:latin typeface="Arial Unicode Bold"/>
                <a:ea typeface="Arial Unicode Bold"/>
                <a:cs typeface="Arial Unicode Bold"/>
                <a:sym typeface="Arial Unicode Bold"/>
              </a:rPr>
              <a:t>   - File báo cáo .docs</a:t>
            </a:r>
          </a:p>
        </p:txBody>
      </p:sp>
      <p:grpSp>
        <p:nvGrpSpPr>
          <p:cNvPr name="Group 6" id="6"/>
          <p:cNvGrpSpPr/>
          <p:nvPr/>
        </p:nvGrpSpPr>
        <p:grpSpPr>
          <a:xfrm rot="0">
            <a:off x="12644951" y="2385148"/>
            <a:ext cx="4242820" cy="4541759"/>
            <a:chOff x="0" y="0"/>
            <a:chExt cx="812800" cy="870068"/>
          </a:xfrm>
        </p:grpSpPr>
        <p:sp>
          <p:nvSpPr>
            <p:cNvPr name="Freeform 7" id="7"/>
            <p:cNvSpPr/>
            <p:nvPr/>
          </p:nvSpPr>
          <p:spPr>
            <a:xfrm flipH="false" flipV="false" rot="0">
              <a:off x="0" y="0"/>
              <a:ext cx="812800" cy="870068"/>
            </a:xfrm>
            <a:custGeom>
              <a:avLst/>
              <a:gdLst/>
              <a:ahLst/>
              <a:cxnLst/>
              <a:rect r="r" b="b" t="t" l="l"/>
              <a:pathLst>
                <a:path h="870068" w="812800">
                  <a:moveTo>
                    <a:pt x="0" y="0"/>
                  </a:moveTo>
                  <a:lnTo>
                    <a:pt x="812800" y="0"/>
                  </a:lnTo>
                  <a:lnTo>
                    <a:pt x="812800" y="870068"/>
                  </a:lnTo>
                  <a:lnTo>
                    <a:pt x="0" y="870068"/>
                  </a:lnTo>
                  <a:close/>
                </a:path>
              </a:pathLst>
            </a:custGeom>
            <a:blipFill>
              <a:blip r:embed="rId2"/>
              <a:stretch>
                <a:fillRect l="-30789" t="0" r="-30789" b="0"/>
              </a:stretch>
            </a:blipFill>
          </p:spPr>
        </p:sp>
      </p:grpSp>
      <p:grpSp>
        <p:nvGrpSpPr>
          <p:cNvPr name="Group 8" id="8"/>
          <p:cNvGrpSpPr/>
          <p:nvPr/>
        </p:nvGrpSpPr>
        <p:grpSpPr>
          <a:xfrm rot="0">
            <a:off x="11725609" y="5608445"/>
            <a:ext cx="3169355" cy="316935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24906" t="0" r="-24906"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02F31">
                <a:alpha val="100000"/>
              </a:srgbClr>
            </a:gs>
            <a:gs pos="100000">
              <a:srgbClr val="00959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a:off x="756447" y="1563443"/>
            <a:ext cx="16775106" cy="0"/>
          </a:xfrm>
          <a:prstGeom prst="line">
            <a:avLst/>
          </a:prstGeom>
          <a:ln cap="flat" w="19050">
            <a:solidFill>
              <a:srgbClr val="FFFFFF"/>
            </a:solidFill>
            <a:prstDash val="solid"/>
            <a:headEnd type="none" len="sm" w="sm"/>
            <a:tailEnd type="none" len="sm" w="sm"/>
          </a:ln>
        </p:spPr>
      </p:sp>
      <p:sp>
        <p:nvSpPr>
          <p:cNvPr name="AutoShape 3" id="3"/>
          <p:cNvSpPr/>
          <p:nvPr/>
        </p:nvSpPr>
        <p:spPr>
          <a:xfrm>
            <a:off x="6343121" y="9236446"/>
            <a:ext cx="11188432"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028700" y="1884066"/>
            <a:ext cx="4461229" cy="7939896"/>
          </a:xfrm>
          <a:custGeom>
            <a:avLst/>
            <a:gdLst/>
            <a:ahLst/>
            <a:cxnLst/>
            <a:rect r="r" b="b" t="t" l="l"/>
            <a:pathLst>
              <a:path h="7939896" w="4461229">
                <a:moveTo>
                  <a:pt x="0" y="0"/>
                </a:moveTo>
                <a:lnTo>
                  <a:pt x="4461229" y="0"/>
                </a:lnTo>
                <a:lnTo>
                  <a:pt x="4461229" y="7939896"/>
                </a:lnTo>
                <a:lnTo>
                  <a:pt x="0" y="7939896"/>
                </a:lnTo>
                <a:lnTo>
                  <a:pt x="0" y="0"/>
                </a:lnTo>
                <a:close/>
              </a:path>
            </a:pathLst>
          </a:custGeom>
          <a:blipFill>
            <a:blip r:embed="rId2"/>
            <a:stretch>
              <a:fillRect l="-38876" t="0" r="-38876" b="0"/>
            </a:stretch>
          </a:blipFill>
        </p:spPr>
      </p:sp>
      <p:grpSp>
        <p:nvGrpSpPr>
          <p:cNvPr name="Group 5" id="5"/>
          <p:cNvGrpSpPr/>
          <p:nvPr/>
        </p:nvGrpSpPr>
        <p:grpSpPr>
          <a:xfrm rot="0">
            <a:off x="6667247" y="2301797"/>
            <a:ext cx="10864306" cy="5136264"/>
            <a:chOff x="0" y="0"/>
            <a:chExt cx="3158883" cy="1493410"/>
          </a:xfrm>
        </p:grpSpPr>
        <p:sp>
          <p:nvSpPr>
            <p:cNvPr name="Freeform 6" id="6"/>
            <p:cNvSpPr/>
            <p:nvPr/>
          </p:nvSpPr>
          <p:spPr>
            <a:xfrm flipH="false" flipV="false" rot="0">
              <a:off x="0" y="0"/>
              <a:ext cx="3158883" cy="1493410"/>
            </a:xfrm>
            <a:custGeom>
              <a:avLst/>
              <a:gdLst/>
              <a:ahLst/>
              <a:cxnLst/>
              <a:rect r="r" b="b" t="t" l="l"/>
              <a:pathLst>
                <a:path h="1493410" w="3158883">
                  <a:moveTo>
                    <a:pt x="0" y="0"/>
                  </a:moveTo>
                  <a:lnTo>
                    <a:pt x="3158883" y="0"/>
                  </a:lnTo>
                  <a:lnTo>
                    <a:pt x="3158883" y="1493410"/>
                  </a:lnTo>
                  <a:lnTo>
                    <a:pt x="0" y="1493410"/>
                  </a:lnTo>
                  <a:close/>
                </a:path>
              </a:pathLst>
            </a:custGeom>
            <a:ln w="38100" cap="sq">
              <a:solidFill>
                <a:srgbClr val="FFFFFF"/>
              </a:solidFill>
              <a:prstDash val="solid"/>
              <a:miter/>
            </a:ln>
          </p:spPr>
        </p:sp>
        <p:sp>
          <p:nvSpPr>
            <p:cNvPr name="TextBox 7" id="7"/>
            <p:cNvSpPr txBox="true"/>
            <p:nvPr/>
          </p:nvSpPr>
          <p:spPr>
            <a:xfrm>
              <a:off x="0" y="-38100"/>
              <a:ext cx="3158883" cy="1531510"/>
            </a:xfrm>
            <a:prstGeom prst="rect">
              <a:avLst/>
            </a:prstGeom>
          </p:spPr>
          <p:txBody>
            <a:bodyPr anchor="ctr" rtlCol="false" tIns="50800" lIns="50800" bIns="50800" rIns="50800"/>
            <a:lstStyle/>
            <a:p>
              <a:pPr algn="ctr">
                <a:lnSpc>
                  <a:spcPts val="2737"/>
                </a:lnSpc>
              </a:pPr>
            </a:p>
          </p:txBody>
        </p:sp>
      </p:grpSp>
      <p:sp>
        <p:nvSpPr>
          <p:cNvPr name="TextBox 8" id="8"/>
          <p:cNvSpPr txBox="true"/>
          <p:nvPr/>
        </p:nvSpPr>
        <p:spPr>
          <a:xfrm rot="0">
            <a:off x="6965665" y="2947195"/>
            <a:ext cx="10267470" cy="2946785"/>
          </a:xfrm>
          <a:prstGeom prst="rect">
            <a:avLst/>
          </a:prstGeom>
        </p:spPr>
        <p:txBody>
          <a:bodyPr anchor="t" rtlCol="false" tIns="0" lIns="0" bIns="0" rIns="0">
            <a:spAutoFit/>
          </a:bodyPr>
          <a:lstStyle/>
          <a:p>
            <a:pPr algn="ctr" marL="0" indent="0" lvl="0">
              <a:lnSpc>
                <a:spcPts val="11979"/>
              </a:lnSpc>
              <a:spcBef>
                <a:spcPct val="0"/>
              </a:spcBef>
            </a:pPr>
            <a:r>
              <a:rPr lang="en-US" sz="7881">
                <a:solidFill>
                  <a:srgbClr val="4AFFE9"/>
                </a:solidFill>
                <a:latin typeface="TT Interphases"/>
                <a:ea typeface="TT Interphases"/>
                <a:cs typeface="TT Interphases"/>
                <a:sym typeface="TT Interphases"/>
              </a:rPr>
              <a:t>THANKS FOR YOUR ATTENTION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DAHXxUo3t_0</dc:identifier>
  <dcterms:modified xsi:type="dcterms:W3CDTF">2011-08-01T06:04:30Z</dcterms:modified>
  <cp:revision>1</cp:revision>
  <dc:title>Dark Green and Turquoise Modern Technology in Education Presentation</dc:title>
</cp:coreProperties>
</file>